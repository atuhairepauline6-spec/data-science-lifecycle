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6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 panose="020B060302020202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1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4" name="Google Shape;44;p14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14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3200"/>
              <a:buFont typeface="Trebuchet MS" panose="020B060302020202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❑"/>
              <a:defRPr sz="3200"/>
            </a:lvl1pPr>
            <a:lvl2pPr marL="914400" lvl="1" indent="-3975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60"/>
              <a:buChar char="❑"/>
              <a:defRPr sz="2800"/>
            </a:lvl2pPr>
            <a:lvl3pPr marL="1371600" lvl="2" indent="-36576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❑"/>
              <a:defRPr sz="2400"/>
            </a:lvl3pPr>
            <a:lvl4pPr marL="1828800" lvl="3" indent="-34036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60"/>
              <a:buChar char="❑"/>
              <a:defRPr sz="2000"/>
            </a:lvl4pPr>
            <a:lvl5pPr marL="2286000" lvl="4" indent="-33782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20"/>
              <a:buChar char="❑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3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8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6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3200"/>
              <a:buFont typeface="Trebuchet MS" panose="020B060302020202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3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8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6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0" name="Google Shape;70;p18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" name="Google Shape;72;p18"/>
          <p:cNvGrpSpPr/>
          <p:nvPr/>
        </p:nvGrpSpPr>
        <p:grpSpPr>
          <a:xfrm>
            <a:off x="888267" y="4604423"/>
            <a:ext cx="5551131" cy="1360803"/>
            <a:chOff x="3063490" y="4400284"/>
            <a:chExt cx="5551131" cy="1360803"/>
          </a:xfrm>
        </p:grpSpPr>
        <p:grpSp>
          <p:nvGrpSpPr>
            <p:cNvPr id="73" name="Google Shape;73;p18"/>
            <p:cNvGrpSpPr/>
            <p:nvPr/>
          </p:nvGrpSpPr>
          <p:grpSpPr>
            <a:xfrm>
              <a:off x="4215162" y="4400284"/>
              <a:ext cx="4399459" cy="1360286"/>
              <a:chOff x="3595675" y="3836538"/>
              <a:chExt cx="5247402" cy="1632365"/>
            </a:xfrm>
          </p:grpSpPr>
          <p:pic>
            <p:nvPicPr>
              <p:cNvPr id="74" name="Google Shape;74;p18" descr="facebook instagram whatsapp PNG image with transparent background | TOPpng"/>
              <p:cNvPicPr preferRelativeResize="0"/>
              <p:nvPr/>
            </p:nvPicPr>
            <p:blipFill rotWithShape="1">
              <a:blip r:embed="rId2"/>
              <a:srcRect r="66494" b="67238"/>
              <a:stretch>
                <a:fillRect/>
              </a:stretch>
            </p:blipFill>
            <p:spPr>
              <a:xfrm>
                <a:off x="3693167" y="4915321"/>
                <a:ext cx="249211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8" descr="facebook instagram whatsapp PNG image with transparent background | TOPpng"/>
              <p:cNvPicPr preferRelativeResize="0"/>
              <p:nvPr/>
            </p:nvPicPr>
            <p:blipFill rotWithShape="1">
              <a:blip r:embed="rId3"/>
              <a:srcRect l="67402" b="69905"/>
              <a:stretch>
                <a:fillRect/>
              </a:stretch>
            </p:blipFill>
            <p:spPr>
              <a:xfrm>
                <a:off x="3685804" y="5173122"/>
                <a:ext cx="263933" cy="2591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8" descr="Round black telephone logo, Telephone Icon, Phone File, electronics, logo,  black And White png | PNGWing"/>
              <p:cNvPicPr preferRelativeResize="0"/>
              <p:nvPr/>
            </p:nvPicPr>
            <p:blipFill rotWithShape="1">
              <a:blip r:embed="rId4"/>
              <a:srcRect/>
              <a:stretch>
                <a:fillRect/>
              </a:stretch>
            </p:blipFill>
            <p:spPr>
              <a:xfrm>
                <a:off x="3693167" y="4579064"/>
                <a:ext cx="249209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8"/>
              <p:cNvSpPr txBox="1"/>
              <p:nvPr/>
            </p:nvSpPr>
            <p:spPr>
              <a:xfrm>
                <a:off x="3943860" y="4840719"/>
                <a:ext cx="296423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@ugandachristianuniversity</a:t>
                </a:r>
                <a:endParaRPr sz="1200">
                  <a:solidFill>
                    <a:srgbClr val="000000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</p:txBody>
          </p:sp>
          <p:sp>
            <p:nvSpPr>
              <p:cNvPr id="78" name="Google Shape;78;p18"/>
              <p:cNvSpPr txBox="1"/>
              <p:nvPr/>
            </p:nvSpPr>
            <p:spPr>
              <a:xfrm>
                <a:off x="6724749" y="4848559"/>
                <a:ext cx="1781016" cy="36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>
                    <a:solidFill>
                      <a:srgbClr val="0C0C0C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@</a:t>
                </a:r>
                <a:r>
                  <a:rPr lang="en-GB" sz="1200">
                    <a:solidFill>
                      <a:srgbClr val="0C0C0C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UCUniversity</a:t>
                </a:r>
                <a:endParaRPr sz="1350">
                  <a:solidFill>
                    <a:srgbClr val="0C0C0C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</p:txBody>
          </p:sp>
          <p:sp>
            <p:nvSpPr>
              <p:cNvPr id="79" name="Google Shape;79;p18"/>
              <p:cNvSpPr txBox="1"/>
              <p:nvPr/>
            </p:nvSpPr>
            <p:spPr>
              <a:xfrm>
                <a:off x="3961223" y="5136500"/>
                <a:ext cx="324006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C0C0C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@UgandaChristianUniversity</a:t>
                </a:r>
                <a:endParaRPr sz="1200">
                  <a:solidFill>
                    <a:srgbClr val="0C0C0C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</p:txBody>
          </p:sp>
          <p:sp>
            <p:nvSpPr>
              <p:cNvPr id="80" name="Google Shape;80;p18"/>
              <p:cNvSpPr txBox="1"/>
              <p:nvPr/>
            </p:nvSpPr>
            <p:spPr>
              <a:xfrm>
                <a:off x="3619181" y="4118017"/>
                <a:ext cx="5223896" cy="72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P.O. Box 4 Mukono, Uganda</a:t>
                </a:r>
                <a:endParaRPr lang="en-GB" sz="1100">
                  <a:solidFill>
                    <a:srgbClr val="1E4E79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Tel: 256-312-350800</a:t>
                </a:r>
                <a:endParaRPr lang="en-GB" sz="1100">
                  <a:solidFill>
                    <a:srgbClr val="1E4E79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100"/>
                  <a:buFont typeface="Trebuchet MS" panose="020B0603020202020204"/>
                  <a:buNone/>
                </a:pPr>
                <a:r>
                  <a:rPr lang="en-GB" sz="1100" u="sng">
                    <a:solidFill>
                      <a:srgbClr val="0000FF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  <a:hlinkClick r:id="rId5"/>
                  </a:rPr>
                  <a:t>      https://ucu.ac.ug/</a:t>
                </a:r>
                <a:r>
                  <a:rPr lang="en-GB" sz="1100">
                    <a:solidFill>
                      <a:srgbClr val="0000FF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 </a:t>
                </a:r>
                <a:r>
                  <a:rPr lang="en-GB" sz="1100">
                    <a:solidFill>
                      <a:srgbClr val="1E4E79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   Email: </a:t>
                </a:r>
                <a:r>
                  <a:rPr lang="en-GB" sz="1100" u="sng">
                    <a:solidFill>
                      <a:srgbClr val="0000FF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  <a:hlinkClick r:id="rId6"/>
                  </a:rPr>
                  <a:t>info@ucu.ac.ug</a:t>
                </a:r>
                <a:r>
                  <a:rPr lang="en-GB" sz="1100">
                    <a:solidFill>
                      <a:srgbClr val="0000FF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.   </a:t>
                </a:r>
                <a:endParaRPr lang="en-GB" sz="1100">
                  <a:solidFill>
                    <a:srgbClr val="0000FF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</p:txBody>
          </p:sp>
          <p:sp>
            <p:nvSpPr>
              <p:cNvPr id="81" name="Google Shape;81;p18"/>
              <p:cNvSpPr txBox="1"/>
              <p:nvPr/>
            </p:nvSpPr>
            <p:spPr>
              <a:xfrm>
                <a:off x="3595675" y="3836538"/>
                <a:ext cx="4174870" cy="406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1">
                    <a:solidFill>
                      <a:srgbClr val="1E4E79"/>
                    </a:solidFill>
                    <a:latin typeface="Trebuchet MS" panose="020B0603020202020204"/>
                    <a:ea typeface="Trebuchet MS" panose="020B0603020202020204"/>
                    <a:cs typeface="Trebuchet MS" panose="020B0603020202020204"/>
                    <a:sym typeface="Trebuchet MS" panose="020B0603020202020204"/>
                  </a:rPr>
                  <a:t>Uganda Christian University</a:t>
                </a:r>
                <a:endParaRPr sz="1600">
                  <a:solidFill>
                    <a:srgbClr val="1E4E79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endParaRPr>
              </a:p>
            </p:txBody>
          </p:sp>
          <p:pic>
            <p:nvPicPr>
              <p:cNvPr id="82" name="Google Shape;82;p18" descr="facebook instagram whatsapp PNG image with transparent background | TOPpng"/>
              <p:cNvPicPr preferRelativeResize="0"/>
              <p:nvPr/>
            </p:nvPicPr>
            <p:blipFill rotWithShape="1">
              <a:blip r:embed="rId3"/>
              <a:srcRect t="34921" r="64675" b="31937"/>
              <a:stretch>
                <a:fillRect/>
              </a:stretch>
            </p:blipFill>
            <p:spPr>
              <a:xfrm>
                <a:off x="6492923" y="4908033"/>
                <a:ext cx="260459" cy="259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" name="Google Shape;83;p18"/>
            <p:cNvPicPr preferRelativeResize="0"/>
            <p:nvPr/>
          </p:nvPicPr>
          <p:blipFill rotWithShape="1">
            <a:blip r:embed="rId7"/>
            <a:srcRect l="4177" t="16271" r="77310" b="16736"/>
            <a:stretch>
              <a:fillRect/>
            </a:stretch>
          </p:blipFill>
          <p:spPr>
            <a:xfrm>
              <a:off x="3063490" y="4440462"/>
              <a:ext cx="1197778" cy="1320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8" descr="Red button thank you icon Royalty Free Vector Image"/>
          <p:cNvPicPr preferRelativeResize="0"/>
          <p:nvPr/>
        </p:nvPicPr>
        <p:blipFill rotWithShape="1">
          <a:blip r:embed="rId8"/>
          <a:srcRect b="13042"/>
          <a:stretch>
            <a:fillRect/>
          </a:stretch>
        </p:blipFill>
        <p:spPr>
          <a:xfrm>
            <a:off x="5409985" y="1899157"/>
            <a:ext cx="1825644" cy="1704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8"/>
          <p:cNvGrpSpPr/>
          <p:nvPr/>
        </p:nvGrpSpPr>
        <p:grpSpPr>
          <a:xfrm>
            <a:off x="8223082" y="4505034"/>
            <a:ext cx="4710416" cy="1774757"/>
            <a:chOff x="4261082" y="3159912"/>
            <a:chExt cx="5618294" cy="2129734"/>
          </a:xfrm>
        </p:grpSpPr>
        <p:pic>
          <p:nvPicPr>
            <p:cNvPr id="86" name="Google Shape;86;p18" descr="facebook instagram whatsapp PNG image with transparent background | TOPpng"/>
            <p:cNvPicPr preferRelativeResize="0"/>
            <p:nvPr/>
          </p:nvPicPr>
          <p:blipFill rotWithShape="1">
            <a:blip r:embed="rId2"/>
            <a:srcRect r="66494" b="67238"/>
            <a:stretch>
              <a:fillRect/>
            </a:stretch>
          </p:blipFill>
          <p:spPr>
            <a:xfrm>
              <a:off x="4333142" y="4196730"/>
              <a:ext cx="277638" cy="288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8" descr="Round black telephone logo, Telephone Icon, Phone File, electronics, logo,  black And White png | PNGWi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4362423" y="4497666"/>
              <a:ext cx="245303" cy="255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8"/>
            <p:cNvSpPr txBox="1"/>
            <p:nvPr/>
          </p:nvSpPr>
          <p:spPr>
            <a:xfrm>
              <a:off x="4629313" y="4929543"/>
              <a:ext cx="2964236" cy="360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4547946" y="4468247"/>
              <a:ext cx="1959178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rPr>
                <a:t>https://cse.ucu.ac.ug/</a:t>
              </a:r>
              <a:endParaRPr sz="1100">
                <a:solidFill>
                  <a:srgbClr val="0000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6285518" y="4170852"/>
              <a:ext cx="1750610" cy="332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C0C0C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rPr>
                <a:t>@ucu_ComputEng</a:t>
              </a:r>
              <a:endParaRPr sz="1200">
                <a:solidFill>
                  <a:srgbClr val="0C0C0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</p:txBody>
        </p:sp>
        <p:sp>
          <p:nvSpPr>
            <p:cNvPr id="91" name="Google Shape;91;p18"/>
            <p:cNvSpPr txBox="1"/>
            <p:nvPr/>
          </p:nvSpPr>
          <p:spPr>
            <a:xfrm>
              <a:off x="4547946" y="4152767"/>
              <a:ext cx="1581881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C0C0C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rPr>
                <a:t>@ucucomputeng</a:t>
              </a:r>
              <a:endParaRPr sz="1100">
                <a:solidFill>
                  <a:srgbClr val="0C0C0C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4281392" y="3800378"/>
              <a:ext cx="5597984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E4E79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rPr>
                <a:t>Tel: +256 (0) 312 350 863 | WhatsApp: +256 (0) 708 114 300</a:t>
              </a:r>
              <a:endParaRPr lang="en-GB" sz="1100">
                <a:solidFill>
                  <a:srgbClr val="1E4E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4261082" y="3159912"/>
              <a:ext cx="5597985" cy="627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E4E79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rPr>
                <a:t>Department of Computing &amp; Technology</a:t>
              </a:r>
              <a:endParaRPr lang="en-GB" sz="1600" b="1">
                <a:solidFill>
                  <a:srgbClr val="1E4E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C00000"/>
                  </a:solidFill>
                  <a:latin typeface="Trebuchet MS" panose="020B0603020202020204"/>
                  <a:ea typeface="Trebuchet MS" panose="020B0603020202020204"/>
                  <a:cs typeface="Trebuchet MS" panose="020B0603020202020204"/>
                  <a:sym typeface="Trebuchet MS" panose="020B0603020202020204"/>
                </a:rPr>
                <a:t>FACULTY OF ENGINEERING, DESIGN AND TECHNOLOGY</a:t>
              </a:r>
              <a:endParaRPr sz="1200">
                <a:solidFill>
                  <a:srgbClr val="C000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endParaRPr>
            </a:p>
          </p:txBody>
        </p:sp>
        <p:pic>
          <p:nvPicPr>
            <p:cNvPr id="94" name="Google Shape;94;p18" descr="facebook instagram whatsapp PNG image with transparent background | TOPpng"/>
            <p:cNvPicPr preferRelativeResize="0"/>
            <p:nvPr/>
          </p:nvPicPr>
          <p:blipFill rotWithShape="1">
            <a:blip r:embed="rId3"/>
            <a:srcRect t="34921" r="64675" b="31937"/>
            <a:stretch>
              <a:fillRect/>
            </a:stretch>
          </p:blipFill>
          <p:spPr>
            <a:xfrm>
              <a:off x="6070315" y="4226614"/>
              <a:ext cx="301120" cy="3004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8"/>
          <p:cNvSpPr txBox="1"/>
          <p:nvPr/>
        </p:nvSpPr>
        <p:spPr>
          <a:xfrm>
            <a:off x="10081508" y="5598486"/>
            <a:ext cx="20007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E4E79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Email: dct-</a:t>
            </a:r>
            <a:r>
              <a:rPr lang="en-GB" sz="1100" u="sng">
                <a:solidFill>
                  <a:srgbClr val="0000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  <a:hlinkClick r:id="rId6"/>
              </a:rPr>
              <a:t>info@ucu.ac.ug</a:t>
            </a:r>
            <a:endParaRPr sz="1100">
              <a:solidFill>
                <a:srgbClr val="0000F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631107" y="4473507"/>
            <a:ext cx="634564" cy="1407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 flipH="1">
            <a:off x="345989" y="4505034"/>
            <a:ext cx="11846011" cy="1050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8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 panose="020B060302020202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type="body" idx="1"/>
          </p:nvPr>
        </p:nvSpPr>
        <p:spPr>
          <a:xfrm rot="5400000">
            <a:off x="3851275" y="-1325561"/>
            <a:ext cx="448945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7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893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70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6.png"/><Relationship Id="rId15" Type="http://schemas.openxmlformats.org/officeDocument/2006/relationships/hyperlink" Target="http://www.ucu.ac.ug/" TargetMode="External"/><Relationship Id="rId14" Type="http://schemas.openxmlformats.org/officeDocument/2006/relationships/hyperlink" Target="mailto:info@ucu.ac.ug" TargetMode="External"/><Relationship Id="rId13" Type="http://schemas.openxmlformats.org/officeDocument/2006/relationships/image" Target="../media/image4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9776791" y="0"/>
            <a:ext cx="2415209" cy="73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rebuchet MS" panose="020B0603020202020204"/>
              <a:buNone/>
              <a:defRPr sz="4400" b="0" i="0" u="none" strike="noStrike" cap="none">
                <a:solidFill>
                  <a:srgbClr val="1F497D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0"/>
          <p:cNvSpPr txBox="1"/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014D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914400" marR="0" lvl="1" indent="-3733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B3D91"/>
              </a:buClr>
              <a:buSzPts val="228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8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1828800" marR="0" lvl="3" indent="-3289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584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2286000" marR="0" lvl="4" indent="-3270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931"/>
              </a:buClr>
              <a:buSzPts val="1548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13" name="Google Shape;13;p10"/>
          <p:cNvSpPr/>
          <p:nvPr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6" name="Google Shape;16;p10"/>
          <p:cNvSpPr txBox="1"/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17" name="Google Shape;17;p10"/>
          <p:cNvSpPr txBox="1"/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18" name="Google Shape;18;p10"/>
          <p:cNvSpPr txBox="1"/>
          <p:nvPr/>
        </p:nvSpPr>
        <p:spPr>
          <a:xfrm>
            <a:off x="2116899" y="6356350"/>
            <a:ext cx="75174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u="none" strike="noStrike" cap="none">
                <a:solidFill>
                  <a:srgbClr val="0B3D9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 Complete Education for A Complete Person</a:t>
            </a:r>
            <a:br>
              <a:rPr lang="en-GB" sz="7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</a:br>
            <a:r>
              <a:rPr lang="en-GB" sz="7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P.O. Box 4, Mukono, Uganda, Plot 67-173, Bishop Tucker Road, Mukono Hill | Tel: +256 (0) 312 350 800 Email: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  <a:hlinkClick r:id="rId14"/>
              </a:rPr>
              <a:t>info@ucu.ac.ug</a:t>
            </a:r>
            <a:r>
              <a:rPr lang="en-GB" sz="700" b="0" i="0" u="none" strike="noStrike" cap="none">
                <a:solidFill>
                  <a:srgbClr val="0000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Web: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https://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  <a:hlinkClick r:id="rId15"/>
              </a:rPr>
              <a:t>ucu.ac.ug</a:t>
            </a:r>
            <a:endParaRPr sz="700" b="0" i="0" u="sng" strike="noStrike" cap="none">
              <a:solidFill>
                <a:srgbClr val="0000F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Founded by the Province of the Church of Uganda. Chartered by the Government of Uganda</a:t>
            </a:r>
            <a:endParaRPr sz="650" b="0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cxnSp>
        <p:nvCxnSpPr>
          <p:cNvPr id="19" name="Google Shape;19;p10"/>
          <p:cNvCxnSpPr/>
          <p:nvPr/>
        </p:nvCxnSpPr>
        <p:spPr>
          <a:xfrm>
            <a:off x="0" y="6395027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7016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0"/>
          <p:cNvPicPr preferRelativeResize="0"/>
          <p:nvPr/>
        </p:nvPicPr>
        <p:blipFill rotWithShape="1">
          <a:blip r:embed="rId16"/>
          <a:srcRect b="42643"/>
          <a:stretch>
            <a:fillRect/>
          </a:stretch>
        </p:blipFill>
        <p:spPr>
          <a:xfrm>
            <a:off x="0" y="5412967"/>
            <a:ext cx="1162289" cy="1445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/>
          <p:nvPr>
            <p:ph type="subTitle" idx="1"/>
          </p:nvPr>
        </p:nvSpPr>
        <p:spPr>
          <a:xfrm>
            <a:off x="1033780" y="3602355"/>
            <a:ext cx="9634220" cy="246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>
                <a:sym typeface="+mn-ea"/>
              </a:rPr>
              <a:t>Course:</a:t>
            </a:r>
            <a:r>
              <a:rPr>
                <a:sym typeface="+mn-ea"/>
              </a:rPr>
              <a:t> DSC8201 - Data Science Lifecycle</a:t>
            </a:r>
            <a:endParaRPr>
              <a:sym typeface="+mn-e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>
                <a:sym typeface="+mn-ea"/>
              </a:rPr>
              <a:t>Student:</a:t>
            </a:r>
            <a:r>
              <a:rPr>
                <a:sym typeface="+mn-ea"/>
              </a:rPr>
              <a:t> Atuhaire</a:t>
            </a:r>
            <a:endParaRPr>
              <a:sym typeface="+mn-e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>
                <a:sym typeface="+mn-ea"/>
              </a:rPr>
              <a:t>Access Number:</a:t>
            </a:r>
            <a:r>
              <a:rPr>
                <a:sym typeface="+mn-ea"/>
              </a:rPr>
              <a:t> B35093</a:t>
            </a:r>
            <a:endParaRPr>
              <a:sym typeface="+mn-e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>
                <a:sym typeface="+mn-ea"/>
              </a:rPr>
              <a:t>Institution:</a:t>
            </a:r>
            <a:r>
              <a:rPr>
                <a:sym typeface="+mn-ea"/>
              </a:rPr>
              <a:t> Uganda Christian University</a:t>
            </a:r>
            <a:endParaRPr>
              <a:sym typeface="+mn-ea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>
                <a:sym typeface="+mn-ea"/>
              </a:rPr>
              <a:t>Date:</a:t>
            </a:r>
            <a:r>
              <a:rPr>
                <a:sym typeface="+mn-ea"/>
              </a:rPr>
              <a:t> December 2025</a:t>
            </a:r>
            <a:endParaRPr lang="en-GB" i="1"/>
          </a:p>
        </p:txBody>
      </p:sp>
      <p:sp>
        <p:nvSpPr>
          <p:cNvPr id="130" name="Google Shape;130;p1"/>
          <p:cNvSpPr txBox="1"/>
          <p:nvPr/>
        </p:nvSpPr>
        <p:spPr>
          <a:xfrm>
            <a:off x="1" y="2156859"/>
            <a:ext cx="12191999" cy="1325563"/>
          </a:xfrm>
          <a:prstGeom prst="rect">
            <a:avLst/>
          </a:prstGeom>
          <a:solidFill>
            <a:srgbClr val="0A3D91"/>
          </a:solidFill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 panose="020B0603020202020204"/>
              <a:buNone/>
            </a:pPr>
            <a:endParaRPr sz="2800" b="0" u="none">
              <a:solidFill>
                <a:srgbClr val="FFFF0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" y="2181298"/>
            <a:ext cx="12191999" cy="889481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 panose="020B0603020202020204"/>
              <a:buNone/>
            </a:pPr>
            <a:r>
              <a:rPr sz="4800">
                <a:solidFill>
                  <a:schemeClr val="bg1"/>
                </a:solidFill>
                <a:sym typeface="+mn-ea"/>
              </a:rPr>
              <a:t>Financial Credit Scoring &amp; Fairness Auditing</a:t>
            </a:r>
            <a:endParaRPr lang="en-GB" sz="4800" b="0" u="none">
              <a:solidFill>
                <a:schemeClr val="bg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+mn-ea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-2" y="2819880"/>
            <a:ext cx="12191999" cy="609120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Trebuchet MS" panose="020B0603020202020204"/>
              <a:buNone/>
            </a:pPr>
            <a:r>
              <a:rPr lang="en-US" altLang="en-US" sz="2800" b="0" u="none">
                <a:solidFill>
                  <a:srgbClr val="FFFF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 Complete Data Science Lifecycle Implementation</a:t>
            </a:r>
            <a:endParaRPr sz="2800" b="0" u="none">
              <a:solidFill>
                <a:srgbClr val="FFFF00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9656407" y="5971302"/>
            <a:ext cx="2535593" cy="4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Trebuchet MS" panose="020B0603020202020204"/>
              <a:buNone/>
            </a:pPr>
            <a:r>
              <a:rPr lang="en-GB" sz="1600" b="0" u="none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Mon </a:t>
            </a:r>
            <a:r>
              <a:rPr lang="en-GB" sz="1600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5</a:t>
            </a:r>
            <a:r>
              <a:rPr lang="en-GB" sz="1600" b="0" u="none" baseline="30000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th</a:t>
            </a:r>
            <a:r>
              <a:rPr lang="en-GB" sz="1600" b="0" u="none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</a:t>
            </a:r>
            <a:r>
              <a:rPr lang="en-GB" sz="1600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Feb</a:t>
            </a:r>
            <a:r>
              <a:rPr lang="en-GB" sz="1600" b="0" u="none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202</a:t>
            </a:r>
            <a:r>
              <a:rPr lang="en-GB" sz="1600">
                <a:solidFill>
                  <a:schemeClr val="accent5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4</a:t>
            </a:r>
            <a:endParaRPr lang="en-GB" sz="1600">
              <a:solidFill>
                <a:schemeClr val="accent5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Trebuchet MS" panose="020B0603020202020204"/>
              <a:buNone/>
            </a:pPr>
            <a:r>
              <a:rPr>
                <a:sym typeface="+mn-ea"/>
              </a:rPr>
              <a:t>Agenda</a:t>
            </a:r>
            <a:endParaRPr lang="en-GB"/>
          </a:p>
        </p:txBody>
      </p:sp>
      <p:sp>
        <p:nvSpPr>
          <p:cNvPr id="139" name="Google Shape;139;p2"/>
          <p:cNvSpPr txBox="1"/>
          <p:nvPr>
            <p:ph type="body" idx="1"/>
          </p:nvPr>
        </p:nvSpPr>
        <p:spPr>
          <a:xfrm>
            <a:off x="489585" y="1687830"/>
            <a:ext cx="10864215" cy="481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Project Overview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1. Problem Statement &amp; Objectives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2. CRISP-DM Methodology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3. Data &amp; Privacy Compliance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4. Model Development &amp; Results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5. Fairness Analysis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6. Deployment Architecture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7. Business Impact</a:t>
            </a:r>
            <a:endParaRPr sz="2600">
              <a:sym typeface="+mn-e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❑"/>
            </a:pPr>
            <a:r>
              <a:rPr sz="2600">
                <a:sym typeface="+mn-ea"/>
              </a:rPr>
              <a:t>8. Conclusions &amp; Recommendations</a:t>
            </a:r>
            <a:endParaRPr sz="2600">
              <a:sym typeface="+mn-e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lang="en-GB" sz="2600">
              <a:solidFill>
                <a:srgbClr val="7F7F7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Problem Statement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>
              <a:buNone/>
            </a:pPr>
            <a:r>
              <a:rPr b="1">
                <a:sym typeface="+mn-ea"/>
              </a:rPr>
              <a:t>The Challenge:</a:t>
            </a:r>
            <a:endParaRPr b="1"/>
          </a:p>
          <a:p>
            <a:r>
              <a:rPr>
                <a:sym typeface="+mn-ea"/>
              </a:rPr>
              <a:t>• High default rates (15-20%)</a:t>
            </a:r>
          </a:p>
          <a:p>
            <a:r>
              <a:rPr>
                <a:sym typeface="+mn-ea"/>
              </a:rPr>
              <a:t>• Slow manual credit decisions</a:t>
            </a:r>
          </a:p>
          <a:p>
            <a:r>
              <a:rPr>
                <a:sym typeface="+mn-ea"/>
              </a:rPr>
              <a:t>• Potential algorithmic bias</a:t>
            </a:r>
          </a:p>
          <a:p>
            <a:r>
              <a:rPr>
                <a:sym typeface="+mn-ea"/>
              </a:rPr>
              <a:t>• Limited regulatory compliance</a:t>
            </a:r>
          </a:p>
          <a:p>
            <a:r>
              <a:rPr>
                <a:sym typeface="+mn-ea"/>
              </a:rPr>
              <a:t>• Lack of transparency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Problem Statement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>
              <a:buNone/>
            </a:pPr>
            <a:r>
              <a:rPr>
                <a:sym typeface="+mn-ea"/>
              </a:rPr>
              <a:t>Our Solution:</a:t>
            </a:r>
          </a:p>
          <a:p>
            <a:r>
              <a:rPr>
                <a:sym typeface="+mn-ea"/>
              </a:rPr>
              <a:t>AI-powered credit scoring</a:t>
            </a:r>
          </a:p>
          <a:p>
            <a:r>
              <a:rPr>
                <a:sym typeface="+mn-ea"/>
              </a:rPr>
              <a:t>82.34% accuracy achieved</a:t>
            </a:r>
          </a:p>
          <a:p>
            <a:r>
              <a:rPr>
                <a:sym typeface="+mn-ea"/>
              </a:rPr>
              <a:t>Fair across demographics</a:t>
            </a:r>
          </a:p>
          <a:p>
            <a:r>
              <a:rPr>
                <a:sym typeface="+mn-ea"/>
              </a:rPr>
              <a:t>GDPR &amp; DPA compliant</a:t>
            </a:r>
          </a:p>
          <a:p>
            <a:r>
              <a:rPr>
                <a:sym typeface="+mn-ea"/>
              </a:rPr>
              <a:t>Explainable decisions (SHAP)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CRISP-DM Methodology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628650" indent="-514350">
              <a:buAutoNum type="arabicPeriod"/>
            </a:pPr>
            <a:r>
              <a:rPr>
                <a:sym typeface="+mn-ea"/>
              </a:rPr>
              <a:t>Business Understanding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Data Understanding (40,000 applications)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Data Preparation (35+ engineered features)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Modeling (XGBoost selected)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Evaluation (82.34% accuracy)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Deployment (FastAPI, Docker, MLflow)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Dataset Overview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b="1">
                <a:sym typeface="+mn-ea"/>
              </a:rPr>
              <a:t>Size: </a:t>
            </a:r>
            <a:r>
              <a:rPr>
                <a:sym typeface="+mn-ea"/>
              </a:rPr>
              <a:t>40,000 loan applications</a:t>
            </a:r>
            <a:endParaRPr>
              <a:sym typeface="+mn-ea"/>
            </a:endParaRPr>
          </a:p>
          <a:p>
            <a:r>
              <a:rPr b="1">
                <a:sym typeface="+mn-ea"/>
              </a:rPr>
              <a:t>Features:</a:t>
            </a:r>
            <a:r>
              <a:rPr>
                <a:sym typeface="+mn-ea"/>
              </a:rPr>
              <a:t> 60+ (25 base + 35 engineered)</a:t>
            </a:r>
            <a:endParaRPr>
              <a:sym typeface="+mn-ea"/>
            </a:endParaRPr>
          </a:p>
          <a:p>
            <a:r>
              <a:rPr b="1">
                <a:sym typeface="+mn-ea"/>
              </a:rPr>
              <a:t>Target:</a:t>
            </a:r>
            <a:r>
              <a:rPr>
                <a:sym typeface="+mn-ea"/>
              </a:rPr>
              <a:t> Default (binary)</a:t>
            </a:r>
            <a:endParaRPr>
              <a:sym typeface="+mn-ea"/>
            </a:endParaRPr>
          </a:p>
          <a:p>
            <a:r>
              <a:rPr b="1">
                <a:sym typeface="+mn-ea"/>
              </a:rPr>
              <a:t>Feature Categories:</a:t>
            </a:r>
            <a:r>
              <a:rPr>
                <a:sym typeface="+mn-ea"/>
              </a:rPr>
              <a:t> Demographic, Financial, Employment, Credit History, Engineered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Privacy &amp; Compliance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lnSpcReduction="10000"/>
          </a:bodyPr>
          <a:p>
            <a:pPr marL="114300" indent="0">
              <a:buNone/>
            </a:pPr>
            <a:r>
              <a:rPr sz="3200">
                <a:sym typeface="+mn-ea"/>
              </a:rPr>
              <a:t>Uganda DPA 2019:</a:t>
            </a:r>
            <a:endParaRPr sz="3200"/>
          </a:p>
          <a:p>
            <a:pPr lvl="1"/>
            <a:r>
              <a:rPr sz="2800">
                <a:sym typeface="+mn-ea"/>
              </a:rPr>
              <a:t>Data minimization</a:t>
            </a:r>
            <a:endParaRPr sz="2800"/>
          </a:p>
          <a:p>
            <a:pPr lvl="1"/>
            <a:r>
              <a:rPr sz="2800">
                <a:sym typeface="+mn-ea"/>
              </a:rPr>
              <a:t>Encryption (AES-256)</a:t>
            </a:r>
            <a:endParaRPr sz="2800"/>
          </a:p>
          <a:p>
            <a:pPr marL="114300" indent="0">
              <a:buNone/>
            </a:pPr>
            <a:r>
              <a:rPr sz="3200">
                <a:sym typeface="+mn-ea"/>
              </a:rPr>
              <a:t>GDPR:</a:t>
            </a:r>
            <a:endParaRPr sz="3200"/>
          </a:p>
          <a:p>
            <a:pPr lvl="1"/>
            <a:r>
              <a:rPr sz="2800">
                <a:sym typeface="+mn-ea"/>
              </a:rPr>
              <a:t>Pseudonymization</a:t>
            </a:r>
            <a:endParaRPr sz="2800"/>
          </a:p>
          <a:p>
            <a:pPr lvl="1"/>
            <a:r>
              <a:rPr sz="2800">
                <a:sym typeface="+mn-ea"/>
              </a:rPr>
              <a:t>Consent framework</a:t>
            </a:r>
            <a:endParaRPr sz="2800"/>
          </a:p>
          <a:p>
            <a:pPr lvl="1"/>
            <a:r>
              <a:rPr sz="2800">
                <a:sym typeface="+mn-ea"/>
              </a:rPr>
              <a:t>RBAC &amp; audit logs</a:t>
            </a:r>
            <a:endParaRPr sz="2800"/>
          </a:p>
          <a:p>
            <a:pPr marL="114300" indent="0">
              <a:buNone/>
            </a:pPr>
            <a:r>
              <a:rPr sz="3200">
                <a:sym typeface="+mn-ea"/>
              </a:rPr>
              <a:t>Security:</a:t>
            </a:r>
            <a:endParaRPr sz="3200"/>
          </a:p>
          <a:p>
            <a:pPr lvl="1"/>
            <a:r>
              <a:rPr sz="2800">
                <a:sym typeface="+mn-ea"/>
              </a:rPr>
              <a:t>TLS 1.3</a:t>
            </a:r>
            <a:endParaRPr sz="2800"/>
          </a:p>
          <a:p>
            <a:pPr lvl="1"/>
            <a:r>
              <a:rPr sz="2800">
                <a:sym typeface="+mn-ea"/>
              </a:rPr>
              <a:t>Audit trail</a:t>
            </a:r>
            <a:endParaRPr sz="2800"/>
          </a:p>
          <a:p>
            <a:endParaRPr 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EDA Insights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628650" indent="-514350">
              <a:buAutoNum type="arabicPeriod"/>
            </a:pPr>
            <a:r>
              <a:rPr>
                <a:sym typeface="+mn-ea"/>
              </a:rPr>
              <a:t>Credit Score → 23% influence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DTI &gt; 50% → sharp risk rise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Employment status matters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Delinquencies add +10% risk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r>
              <a:rPr>
                <a:sym typeface="+mn-ea"/>
              </a:rPr>
              <a:t>Age 35-50 lowest risk</a:t>
            </a:r>
            <a:endParaRPr>
              <a:sym typeface="+mn-ea"/>
            </a:endParaRPr>
          </a:p>
          <a:p>
            <a:pPr marL="628650" indent="-514350">
              <a:buAutoNum type="arabicPeriod"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Feature Engineering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sz="3600">
                <a:sym typeface="+mn-ea"/>
              </a:rPr>
              <a:t>35+ engineered features:</a:t>
            </a:r>
            <a:endParaRPr sz="3600">
              <a:sym typeface="+mn-ea"/>
            </a:endParaRPr>
          </a:p>
          <a:p>
            <a:r>
              <a:rPr sz="3600">
                <a:sym typeface="+mn-ea"/>
              </a:rPr>
              <a:t>Risk scores, ratios, flags</a:t>
            </a:r>
            <a:endParaRPr sz="3600">
              <a:sym typeface="+mn-ea"/>
            </a:endParaRPr>
          </a:p>
          <a:p>
            <a:r>
              <a:rPr sz="3600">
                <a:sym typeface="+mn-ea"/>
              </a:rPr>
              <a:t>Impact: +8 AUC improvement</a:t>
            </a:r>
            <a:endParaRPr sz="3600">
              <a:sym typeface="+mn-ea"/>
            </a:endParaRPr>
          </a:p>
          <a:p>
            <a:pPr marL="114300" indent="0">
              <a:buNone/>
            </a:pPr>
            <a:endParaRPr lang="en-US" sz="36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Model Performance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sz="3200">
                <a:sym typeface="+mn-ea"/>
              </a:rPr>
              <a:t>XGBoost: 82.34% accuracy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LogReg 76%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Random Forest 80.5%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LightGBM 81.6%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XGBoost selected</a:t>
            </a:r>
            <a:endParaRPr sz="3200">
              <a:sym typeface="+mn-ea"/>
            </a:endParaRPr>
          </a:p>
          <a:p>
            <a:endParaRPr lang="en-US" sz="32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SHAP Explainability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sz="3200">
                <a:sym typeface="+mn-ea"/>
              </a:rPr>
              <a:t>Top Features: Credit Score, DTI, Delinquencies,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Employment Duration, Utilization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Example: Applicant risk explained</a:t>
            </a:r>
            <a:endParaRPr sz="3200">
              <a:sym typeface="+mn-ea"/>
            </a:endParaRPr>
          </a:p>
          <a:p>
            <a:endParaRPr lang="en-US" sz="320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Fairness Analysis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sz="3200">
                <a:sym typeface="+mn-ea"/>
              </a:rPr>
              <a:t>All DI ratios 0.87–0.99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All groups pass 80% rule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No disparate impact</a:t>
            </a:r>
            <a:endParaRPr sz="3200">
              <a:sym typeface="+mn-ea"/>
            </a:endParaRPr>
          </a:p>
          <a:p>
            <a:endParaRPr lang="en-US" sz="32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Deployment Architecture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>
                <a:sym typeface="+mn-ea"/>
              </a:rPr>
              <a:t>FastAPI → Docker → Model → MLflow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Latency &lt;100ms, 99.9% uptime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Monitoring: Prometheus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Business Impact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>
                <a:sym typeface="+mn-ea"/>
              </a:rPr>
              <a:t>28.8B UGX saved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50% faster approvals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Defaults: 20% → 16%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ROI: 14,300%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Limitations &amp; Future Work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>
                <a:sym typeface="+mn-ea"/>
              </a:rPr>
              <a:t>Simulated data, no mobile money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Future: dashboards, Spark, AutoML,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individual fairness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Conclusion &amp; Q&amp;A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>
                <a:sym typeface="+mn-ea"/>
              </a:rPr>
              <a:t>82.34% accuracy, fair, compliant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Production-ready deployment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Contact: atuhairepauline6@gmail.com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2315</Words>
  <Application>WPS Presentation</Application>
  <PresentationFormat/>
  <Paragraphs>145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Trebuchet MS</vt:lpstr>
      <vt:lpstr>Noto Sans Symbols</vt:lpstr>
      <vt:lpstr>AMGDT</vt:lpstr>
      <vt:lpstr>Calibri</vt:lpstr>
      <vt:lpstr>Microsoft YaHei</vt:lpstr>
      <vt:lpstr>Arial Unicode MS</vt:lpstr>
      <vt:lpstr>Office Theme</vt:lpstr>
      <vt:lpstr>PowerPoint 演示文稿</vt:lpstr>
      <vt:lpstr>Lecture Objectives and Learning outcomes</vt:lpstr>
      <vt:lpstr>PowerPoint 演示文稿</vt:lpstr>
      <vt:lpstr>Problem Statement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Jamugisa Peter</cp:lastModifiedBy>
  <cp:revision>3</cp:revision>
  <dcterms:created xsi:type="dcterms:W3CDTF">2025-12-09T15:44:32Z</dcterms:created>
  <dcterms:modified xsi:type="dcterms:W3CDTF">2025-12-09T15:45:49Z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4F6C16E7F1D64E49A78CA85D62CB381A_13</vt:lpwstr>
  </property>
  <property fmtid="{D5CDD505-2E9C-101B-9397-08002B2CF9AE}" pid="3" name="KSOProductBuildVer">
    <vt:lpwstr>1033-12.2.0.23155</vt:lpwstr>
  </property>
</Properties>
</file>